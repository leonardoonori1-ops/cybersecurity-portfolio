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IBM Plex Sans Light"/>
      <p:regular r:id="rId201317"/>
    </p:embeddedFont>
    <p:embeddedFont>
      <p:font typeface="IBM Plex Sans Thin"/>
      <p:regular r:id="rId201318"/>
    </p:embeddedFont>
    <p:embeddedFont>
      <p:font typeface="IBM Plex Sans ExtraLight"/>
      <p:regular r:id="rId201319"/>
    </p:embeddedFont>
    <p:embeddedFont>
      <p:font typeface="IBM Plex Sans Medium"/>
      <p:regular r:id="rId201320"/>
    </p:embeddedFont>
    <p:embeddedFont>
      <p:font typeface="Outfit Light"/>
      <p:regular r:id="rId201321"/>
    </p:embeddedFont>
    <p:embeddedFont>
      <p:font typeface="Outfit Thin"/>
      <p:regular r:id="rId201322"/>
    </p:embeddedFont>
    <p:embeddedFont>
      <p:font typeface="Outfit ExtraLight"/>
      <p:regular r:id="rId201323"/>
    </p:embeddedFont>
    <p:embeddedFont>
      <p:font typeface="Outfit"/>
      <p:regular r:id="rId201324"/>
    </p:embeddedFont>
    <p:embeddedFont>
      <p:font typeface="Outfit Medium"/>
      <p:regular r:id="rId201325"/>
    </p:embeddedFont>
    <p:embeddedFont>
      <p:font typeface="Outfit SemiBold"/>
      <p:regular r:id="rId201326"/>
    </p:embeddedFont>
    <p:embeddedFont>
      <p:font typeface="Outfit Bold"/>
      <p:regular r:id="rId201327"/>
    </p:embeddedFont>
    <p:embeddedFont>
      <p:font typeface="Outfit ExtraBold"/>
      <p:regular r:id="rId201328"/>
    </p:embeddedFont>
    <p:embeddedFont>
      <p:font typeface="Outfit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CFDB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87487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Progettazione e Realizzazione di una Rete Aziendale Sicura e Segmentata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3285728"/>
            <a:ext cx="629686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Relazione tecnico-economica per la realizzazione di un'infrastruttura di rete completa per un'organizzazione di medie dimensioni, composta da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120 postazioni di lavoro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distribuite su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6 piani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(20 PC per piano). L'obiettivo principale è stato quello di realizzare un'infrastruttura di rete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sicura, segmentata e monitorata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in grado di garantire elevati standard di protezione dei dati, continuità operativa e facilità di gestione.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5059462"/>
            <a:ext cx="1578928" cy="310952"/>
          </a:xfrm>
          <a:prstGeom prst="roundRect">
            <a:avLst>
              <a:gd name="adj" fmla="val 38296"/>
            </a:avLst>
          </a:prstGeom>
          <a:solidFill>
            <a:srgbClr val="CFDBFC"/>
          </a:solidFill>
          <a:ln/>
        </p:spPr>
      </p:sp>
      <p:sp>
        <p:nvSpPr>
          <p:cNvPr id="7" name="Text 4"/>
          <p:cNvSpPr/>
          <p:nvPr/>
        </p:nvSpPr>
        <p:spPr>
          <a:xfrm>
            <a:off x="760691" y="5109071"/>
            <a:ext cx="1990080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DATA: 01 LUGLIO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323050" y="5059462"/>
            <a:ext cx="2371269" cy="310952"/>
          </a:xfrm>
          <a:prstGeom prst="roundRect">
            <a:avLst>
              <a:gd name="adj" fmla="val 3829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2b9f9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22266" y="5109071"/>
            <a:ext cx="278242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2B9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PREVENTIVO TOTALE: € 219.874,20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3823"/>
            <a:ext cx="724526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Introduzione e Obiettivi del Progetto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11251"/>
            <a:ext cx="108687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 presente documento descrive la progettazione e la realizzazione di una rete aziendale completa, progettata seguendo il principio della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difesa in profondità (defense-in-depth)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L'approccio multi-livello garantisce che, anche nel caso in cui uno strato di sicurezza venga compromesso, gli strati rimanenti continuino a proteggere l'infrastruttura aziendale.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891135"/>
            <a:ext cx="3512653" cy="1501180"/>
          </a:xfrm>
          <a:prstGeom prst="roundRect">
            <a:avLst>
              <a:gd name="adj" fmla="val 9916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21590" dir="2700000">
              <a:srgbClr val="b5c1e2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3119" y="3062784"/>
            <a:ext cx="2792640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Firewall Perimetrale e DMZ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3426817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Controllo del traffico in ingresso e uscita con isolamento della zona DMZ per i servizi esposti verso Internet.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891135"/>
            <a:ext cx="3512752" cy="1501180"/>
          </a:xfrm>
          <a:prstGeom prst="roundRect">
            <a:avLst>
              <a:gd name="adj" fmla="val 9916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21590" dir="2700000">
              <a:srgbClr val="b5c1e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11066" y="3062784"/>
            <a:ext cx="230548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🔀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Segmentazione VLAN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1066" y="3426817"/>
            <a:ext cx="31694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Isolamento dei diversi reparti aziendali e dei server critici tramite VLAN dedicate con subnetting appropriato.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891135"/>
            <a:ext cx="3512653" cy="1501180"/>
          </a:xfrm>
          <a:prstGeom prst="roundRect">
            <a:avLst>
              <a:gd name="adj" fmla="val 9916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21590" dir="2700000">
              <a:srgbClr val="b5c1e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9112" y="3062784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👁️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Sistemi IDS/IPS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9112" y="3426817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Monitoraggio attivo del traffico di rete per il rilevamento e la prevenzione delle intrusioni in tempo reale.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557613"/>
            <a:ext cx="5351626" cy="1236563"/>
          </a:xfrm>
          <a:prstGeom prst="roundRect">
            <a:avLst>
              <a:gd name="adj" fmla="val 12038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21590" dir="2700000">
              <a:srgbClr val="b5c1e2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3119" y="4729262"/>
            <a:ext cx="2819230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SIEM e Syslog Centralizzato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119" y="5093295"/>
            <a:ext cx="50083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Raccolta, correlazione e analisi dei log di tutti i dispositivi di rete per una visibilità completa.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395" y="4557613"/>
            <a:ext cx="5351725" cy="1236563"/>
          </a:xfrm>
          <a:prstGeom prst="roundRect">
            <a:avLst>
              <a:gd name="adj" fmla="val 12038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21590" dir="2700000">
              <a:srgbClr val="b5c1e2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0040" y="4729262"/>
            <a:ext cx="216122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Power Management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40" y="5093295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Sistemi UPS e PDU per garantire la continuità operativa e proteggere le apparecchiature da blackout e sbalzi di tensione.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472259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Architettura di Rete: Topologia e Zone di Sicurezza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61475" y="754261"/>
            <a:ext cx="11478330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rete è organizzata in </a:t>
            </a:r>
            <a:pPr algn="l" indent="0" marL="0">
              <a:lnSpc>
                <a:spcPct val="97000"/>
              </a:lnSpc>
              <a:buNone/>
            </a:pPr>
            <a:r>
              <a:rPr lang="en-US" sz="5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tre zone di sicurezza principali</a:t>
            </a:r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ciascuna con caratteristiche, policy di accesso e livelli di protezione differenti. Questa segmentazione logica è fondamentale per contenere eventuali incidenti di sicurezza e limitare il raggio d'azione di un eventuale attaccante.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78185"/>
            <a:ext cx="9753356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7898" y="6402189"/>
            <a:ext cx="5450743" cy="771327"/>
          </a:xfrm>
          <a:prstGeom prst="roundRect">
            <a:avLst>
              <a:gd name="adj" fmla="val 13895"/>
            </a:avLst>
          </a:prstGeom>
          <a:solidFill>
            <a:srgbClr val="A2B9F9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82310" y="6435626"/>
            <a:ext cx="1948211" cy="116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Componenti Principali della Rete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82310" y="6585347"/>
            <a:ext cx="5301919" cy="57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Firewall Perimetrale</a:t>
            </a:r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Cisco ASA 5505 — Protezione da Internet</a:t>
            </a:r>
            <a:endParaRPr lang="en-US" sz="550" dirty="0"/>
          </a:p>
          <a:p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Firewall DMZ</a:t>
            </a:r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Cisco ASA 5505 — Isolamento della DMZ</a:t>
            </a:r>
            <a:endParaRPr lang="en-US" sz="550" dirty="0"/>
          </a:p>
          <a:p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Router Centrale</a:t>
            </a:r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Cisco 2911 — Gateway e routing inter-VLAN</a:t>
            </a:r>
            <a:endParaRPr lang="en-US" sz="550" dirty="0"/>
          </a:p>
          <a:p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Switch Core</a:t>
            </a:r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Cisco Catalyst 2960-X 48 porte — Backbone della rete</a:t>
            </a:r>
            <a:endParaRPr lang="en-US" sz="550" dirty="0"/>
          </a:p>
          <a:p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6 Switch di Piano</a:t>
            </a:r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Cisco Catalyst 2960 48 porte — Accesso per ogni piano</a:t>
            </a:r>
            <a:endParaRPr lang="en-US" sz="550" dirty="0"/>
          </a:p>
          <a:p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 Router IDS</a:t>
            </a:r>
            <a:pPr algn="l" marL="111760" indent="-111760">
              <a:lnSpc>
                <a:spcPct val="970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Cisco 2811 — Monitoraggio traffico NAS, Web Server e Core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6192980" y="6435626"/>
            <a:ext cx="1539836" cy="116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Flusso del Traffico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192980" y="6585347"/>
            <a:ext cx="534359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 traffico proveniente da Internet attraversa prima il </a:t>
            </a:r>
            <a:pPr algn="l" indent="0" marL="0">
              <a:lnSpc>
                <a:spcPct val="97000"/>
              </a:lnSpc>
              <a:buNone/>
            </a:pPr>
            <a:r>
              <a:rPr lang="en-US" sz="5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Firewall Perimetrale</a:t>
            </a:r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che applica le regole ACL e filtra il traffico non autorizzato. Il traffico destinato ai servizi pubblici (Web Server) viene instradato verso la </a:t>
            </a:r>
            <a:pPr algn="l" indent="0" marL="0">
              <a:lnSpc>
                <a:spcPct val="97000"/>
              </a:lnSpc>
              <a:buNone/>
            </a:pPr>
            <a:r>
              <a:rPr lang="en-US" sz="5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DMZ</a:t>
            </a:r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isolata dalla rete interna tramite un secondo firewall. Il traffico interno è segmentato per VLAN e monitorato dai sistemi IDS posizionati strategicamente sulla VLAN 70 (server), sulla DMZ e sul core di rete.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6192980" y="6881912"/>
            <a:ext cx="5343590" cy="197842"/>
          </a:xfrm>
          <a:prstGeom prst="roundRect">
            <a:avLst>
              <a:gd name="adj" fmla="val 33857"/>
            </a:avLst>
          </a:prstGeom>
          <a:solidFill>
            <a:srgbClr val="CFDB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392" y="6979543"/>
            <a:ext cx="92966" cy="744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34770" y="6930529"/>
            <a:ext cx="5636972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segmentazione in VLAN garantisce che un eventuale incidente su un reparto non possa propagarsi all'intera infrastruttura aziendale.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1804"/>
            <a:ext cx="8250527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Segmentazione VLAN e Schema di Indirizzamento IP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46882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rete interna è suddivisa in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8 VLAN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ciascuna dedicata a un reparto specifico o a una funzione infrastrutturale critica. Ogni VLAN opera su una subnet /24 distinta, con un gateway dedicato gestito dal router centrale Cisco 2911. Questa architettura garantisce isolamento logico, facilità di gestione e applicazione granulare delle policy di sicurezza.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1746945"/>
            <a:ext cx="10868745" cy="3035300"/>
          </a:xfrm>
          <a:prstGeom prst="roundRect">
            <a:avLst>
              <a:gd name="adj" fmla="val 392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79" y="1823145"/>
            <a:ext cx="1644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VLAN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6064" y="1823145"/>
            <a:ext cx="33784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Reparto / Funzione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45753" y="1823145"/>
            <a:ext cx="35954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Subnet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02527" y="1823145"/>
            <a:ext cx="35986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Gateway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0179" y="2159695"/>
            <a:ext cx="1644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6064" y="2159695"/>
            <a:ext cx="33784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Segreteria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45753" y="2159695"/>
            <a:ext cx="35954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192.168.10.0/24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02527" y="2159695"/>
            <a:ext cx="35986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192.168.10.1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0179" y="2496245"/>
            <a:ext cx="1644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20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6064" y="2496245"/>
            <a:ext cx="33784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&amp; Marketing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45753" y="2496245"/>
            <a:ext cx="35954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192.168.20.0/24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02527" y="2496245"/>
            <a:ext cx="35986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192.168.20.1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0179" y="2832795"/>
            <a:ext cx="1644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30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6064" y="2832795"/>
            <a:ext cx="33784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Procurement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45753" y="2832795"/>
            <a:ext cx="35954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192.168.30.0/24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02527" y="2832795"/>
            <a:ext cx="35986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192.168.30.1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0179" y="3169345"/>
            <a:ext cx="1644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40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6064" y="3169345"/>
            <a:ext cx="33784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Ingegneri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45753" y="3169345"/>
            <a:ext cx="35954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192.168.40.0/24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02527" y="3169345"/>
            <a:ext cx="35986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192.168.40.1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0179" y="3505895"/>
            <a:ext cx="1644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50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6064" y="3505895"/>
            <a:ext cx="33784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Department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45753" y="3505895"/>
            <a:ext cx="35954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192.168.50.0/24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02527" y="3505895"/>
            <a:ext cx="35986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192.168.50.1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0179" y="3842445"/>
            <a:ext cx="1644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60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6064" y="3842445"/>
            <a:ext cx="33784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Direttori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45753" y="3842445"/>
            <a:ext cx="35954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192.168.60.0/24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02527" y="3842445"/>
            <a:ext cx="35986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192.168.60.1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0179" y="4178995"/>
            <a:ext cx="1644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70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06064" y="4178995"/>
            <a:ext cx="33784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 Interni (NAS, Syslog, IDS)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45753" y="4178995"/>
            <a:ext cx="35954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192.168.70.0/24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02527" y="4178995"/>
            <a:ext cx="35986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192.168.70.1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0179" y="4515545"/>
            <a:ext cx="1644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100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06064" y="4515545"/>
            <a:ext cx="33784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DMZ (Web Server, IDS)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45753" y="4515545"/>
            <a:ext cx="35954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192.168.100.0/24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02527" y="4515545"/>
            <a:ext cx="35986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192.168.100.1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1475" y="4901307"/>
            <a:ext cx="3552339" cy="1334790"/>
          </a:xfrm>
          <a:prstGeom prst="roundRect">
            <a:avLst>
              <a:gd name="adj" fmla="val 892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6510" dir="2700000">
              <a:srgbClr val="b5c1e2">
                <a:alpha val="10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12780" y="5052616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VLAN Utenti (10–60)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12780" y="5322788"/>
            <a:ext cx="32497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VLAN dedicate ai reparti aziendali, ciascuna con accesso limitato alle sole risorse necessarie. La VLAN IT (50) ha privilegi di accesso estesi per la gestione dell'infrastruttura.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19579" y="4901307"/>
            <a:ext cx="3552438" cy="1334790"/>
          </a:xfrm>
          <a:prstGeom prst="roundRect">
            <a:avLst>
              <a:gd name="adj" fmla="val 892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6510" dir="2700000">
              <a:srgbClr val="b5c1e2">
                <a:alpha val="10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470883" y="5052616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VLAN Server (70)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470883" y="5322788"/>
            <a:ext cx="324982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 i server critici (NAS, Syslog, SIEM, Active Directory) dalla rete utenti. L'accesso è controllato tramite ACL e monitorato dal router IDS dedicato.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977782" y="4901307"/>
            <a:ext cx="3552438" cy="1334790"/>
          </a:xfrm>
          <a:prstGeom prst="roundRect">
            <a:avLst>
              <a:gd name="adj" fmla="val 892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6510" dir="2700000">
              <a:srgbClr val="b5c1e2">
                <a:alpha val="10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129086" y="5052616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VLAN DMZ (100)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29086" y="5322788"/>
            <a:ext cx="324982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Zona demilitarizzata per i servizi esposti verso Internet. Il Web Server risiede in questa VLAN, protetto da firewall dedicato e monitorato da IDS specifico.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0896"/>
            <a:ext cx="11395484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Sicurezza Informatica: Firewall, IDS/IPS e Protezione Endpoint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50280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sicurezza è stata progettata su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più livelli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integrando soluzioni hardware e software per garantire una protezione completa dell'infrastruttura aziendale. Ogni livello aggiunge una barriera supplementare contro le minacce esterne e interne.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08498"/>
            <a:ext cx="392797" cy="392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687836"/>
            <a:ext cx="28121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Firewall e Perimetro di Sicurezza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1475" y="3022898"/>
            <a:ext cx="5341109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Cisco ASA 5505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(perimetrale e DMZ) con licenze base e supporto triennale. Una VPN Appliance garantisce accesso remoto sicuro fino a 25 utenti simultanei. Le regole ACL filtrano il traffico in base a policy granulari per VLAN e servizio.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9111" y="2108498"/>
            <a:ext cx="392797" cy="3928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9111" y="2687836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Sistemi IDS/IPS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189111" y="3022898"/>
            <a:ext cx="5341109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router Cisco 2811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configurati come sensori IDS: uno sulla VLAN 70 per il monitoraggio del traffico NAS, uno sulla DMZ per il Web Server e uno aggiuntivo per il traffico del core switch. Generano alert in tempo reale e log centralizzati sul SIEM.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02026"/>
            <a:ext cx="392797" cy="3928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881364"/>
            <a:ext cx="234676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Protezione Endpoint e Rete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61475" y="5216426"/>
            <a:ext cx="5341109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Antivirus/Endpoint Protection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per 120 PC (€ 4.800/anno) e sistema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EDR/XDR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per rilevamento e risposta alle minacce avanzate (€ 7.200/anno). Controllo accessi di rete tramite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802.1X/NAC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autenticazione centralizzata via Active Directory.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9111" y="4302026"/>
            <a:ext cx="392797" cy="3928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89111" y="4881364"/>
            <a:ext cx="236620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Monitoraggio, SIEM e Audit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189111" y="5216426"/>
            <a:ext cx="5341109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SIEM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integrato con Syslog Server per la raccolta e correlazione dei log. Vulnerability Assessment annuale (€ 1.000), Penetration Test da partner esterno (€ 3.000/anno) e opzione di monitoraggio H24 (€ 2.400/anno). Backup cifrati per server e NAS.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3370"/>
            <a:ext cx="678718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Server, Storage e Infrastruttura Hardware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38448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L'infrastruttura server è stata dimensionata per supportare le esigenze operative dell'organizzazione, garantendo prestazioni adeguate, ridondanza dei dati e scalabilità futura. I server selezionati appartengono a linee enterprise con supporto tecnico dedicato.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227" y="1738511"/>
            <a:ext cx="5463542" cy="4506020"/>
          </a:xfrm>
          <a:prstGeom prst="roundRect">
            <a:avLst>
              <a:gd name="adj" fmla="val 4228"/>
            </a:avLst>
          </a:prstGeom>
          <a:solidFill>
            <a:srgbClr val="A2B9F9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98483" y="1844278"/>
            <a:ext cx="22634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Server e Storage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8483" y="2170013"/>
            <a:ext cx="5199032" cy="2362200"/>
          </a:xfrm>
          <a:prstGeom prst="roundRect">
            <a:avLst>
              <a:gd name="adj" fmla="val 504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7187" y="2246213"/>
            <a:ext cx="24195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Componente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11700" y="2246213"/>
            <a:ext cx="345679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Specifiche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7187" y="2582763"/>
            <a:ext cx="24195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11700" y="2582763"/>
            <a:ext cx="345679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Synology DS224+, 2x HDD 4TB RAID1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7187" y="2919313"/>
            <a:ext cx="24195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Server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11700" y="2919313"/>
            <a:ext cx="345679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Dell PowerEdge T340, Xeon, 32GB RAM, SSD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7187" y="3255863"/>
            <a:ext cx="24195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Syslog / SIEM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11700" y="3255863"/>
            <a:ext cx="345679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HP ProLiant ML30 Gen10, Xeon, 32GB RAM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7187" y="3592413"/>
            <a:ext cx="24195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 / DNS / DHCP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11700" y="3592413"/>
            <a:ext cx="345679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Dell PowerEdge T340, Xeon, 32GB RAM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7187" y="3928963"/>
            <a:ext cx="24195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 Server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11700" y="3928963"/>
            <a:ext cx="345679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 Tower, configurazione base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7187" y="4265513"/>
            <a:ext cx="24195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 Desktop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11700" y="4265513"/>
            <a:ext cx="345679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120 unità, i5, 16GB, SSD, Win11 Pro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8483" y="4651276"/>
            <a:ext cx="58086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Totale Server e PC: € 93.990,00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523" y="1844278"/>
            <a:ext cx="30705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Cablaggio e Infrastruttura di Rete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523" y="2170013"/>
            <a:ext cx="5273047" cy="2698750"/>
          </a:xfrm>
          <a:prstGeom prst="roundRect">
            <a:avLst>
              <a:gd name="adj" fmla="val 441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2227" y="2246213"/>
            <a:ext cx="2449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Componente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6307" y="2246213"/>
            <a:ext cx="35012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Quantità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2227" y="2582763"/>
            <a:ext cx="2449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Rack 19" 42U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6307" y="2582763"/>
            <a:ext cx="35012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unità (server e core)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2227" y="2919313"/>
            <a:ext cx="2449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Armadi Rack 12U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6307" y="2919313"/>
            <a:ext cx="35012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unità (uno per piano)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2227" y="3255863"/>
            <a:ext cx="2449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Patch Panel 48 porte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6307" y="3255863"/>
            <a:ext cx="35012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unità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2227" y="3592413"/>
            <a:ext cx="2449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Cavi Cat6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6307" y="3592413"/>
            <a:ext cx="35012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rotoli da 305m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2227" y="3928963"/>
            <a:ext cx="2449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Patch Cord Cat6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6307" y="3928963"/>
            <a:ext cx="35012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150 cavi (vari colori)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2227" y="4265513"/>
            <a:ext cx="2449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Fibra Ottica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6307" y="4265513"/>
            <a:ext cx="35012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Backbone verticale 6 piani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2227" y="4602063"/>
            <a:ext cx="2449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Moduli SFP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06307" y="4602063"/>
            <a:ext cx="35012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Core + 6 Piano = 10 moduli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523" y="4987826"/>
            <a:ext cx="58826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Totale Cablaggio: € 8.590,00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523" y="5297388"/>
            <a:ext cx="5273047" cy="828080"/>
          </a:xfrm>
          <a:prstGeom prst="roundRect">
            <a:avLst>
              <a:gd name="adj" fmla="val 14380"/>
            </a:avLst>
          </a:prstGeom>
          <a:solidFill>
            <a:srgbClr val="CFDBFC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5778" y="5486598"/>
            <a:ext cx="165294" cy="132259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6693328" y="5425678"/>
            <a:ext cx="471098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 cablaggio Cat6 garantisce velocità fino a 1 Gbps su distanze fino a 100m. La fibra ottica nel backbone verticale assicura connettività ad alta velocità tra i piani.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1420"/>
            <a:ext cx="6209252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Power Management e Continuità Operativa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245195"/>
            <a:ext cx="1086874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garantire la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continuità operativa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proteggere le apparecchiature da sbalzi di tensione e blackout, è stato progettato un sistema di alimentazione ridondante su più livelli. Ogni componente critico dell'infrastruttura è protetto da un UPS dedicato, dimensionato in base al carico e al tempo di autonomia richiesto.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651198"/>
            <a:ext cx="10868745" cy="3291284"/>
          </a:xfrm>
          <a:prstGeom prst="roundRect">
            <a:avLst>
              <a:gd name="adj" fmla="val 316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3709" y="1712516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Componente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43658" y="1712516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Descrizione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03142" y="1712516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Q.tà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22937" y="1712516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Totale (€)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3709" y="1986260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UPS Router Centrale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43658" y="1986260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1500VA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03142" y="1986260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122937" y="1986260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€ 500,00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3709" y="2260005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UPS Firewall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43658" y="2260005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1000VA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03142" y="2260005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122937" y="2260005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€ 400,00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3709" y="2533749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UPS Switch Core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43658" y="2533749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2000VA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03142" y="2533749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22937" y="2533749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€ 800,00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3709" y="2807494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UPS Switch di Piano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43658" y="2807494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1000VA × 6 piani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03142" y="2807494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22937" y="2807494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€ 1.800,00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3709" y="3081238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UPS NAS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43658" y="3081238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700VA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03142" y="3081238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122937" y="3081238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€ 250,00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3709" y="3354983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UPS Server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43658" y="3354983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2000VA per rack server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03142" y="3354983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122937" y="3354983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€ 800,00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3709" y="3628727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PDU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43658" y="3628727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Distribution Unit per rack 42U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03142" y="3628727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122937" y="3628727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€ 400,00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3709" y="3902472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Alimentazione Ridondata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43658" y="3902472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Alimentatori ridondanti per 4 server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03142" y="3902472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122937" y="3902472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€ 1.000,00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3709" y="4176216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Batterie di Ricambio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43658" y="4176216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Kit di ricambio UPS (3-5 anni)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603142" y="4176216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122937" y="4176216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€ 800,00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3709" y="4449961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Protezione Sovratensioni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43658" y="4449961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Scaricatori SPD per quadro elettrico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603142" y="4449961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122937" y="4449961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€ 300,00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3709" y="4723705"/>
            <a:ext cx="36318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Generatore di Emergenza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043658" y="4723705"/>
            <a:ext cx="49313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Gruppo elettrogeno 5kVA (opzionale)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603142" y="4723705"/>
            <a:ext cx="1891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122937" y="4723705"/>
            <a:ext cx="189483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€ 3.000,00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94762" y="5091410"/>
            <a:ext cx="248864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€10.050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1573570" y="5592068"/>
            <a:ext cx="173102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Totale Power Management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61475" y="5821561"/>
            <a:ext cx="355531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Investimento complessivo per garantire continuità operativa e protezione delle apparecchiature.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51378" y="5091410"/>
            <a:ext cx="2488741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12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5372164" y="5592068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UPS Installati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318090" y="5821561"/>
            <a:ext cx="355541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Unità di alimentazione ininterrotta distribuite su tutti i componenti critici della rete.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508093" y="5091410"/>
            <a:ext cx="2488741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5kVA</a:t>
            </a:r>
            <a:endParaRPr lang="en-US" sz="3000" dirty="0"/>
          </a:p>
        </p:txBody>
      </p:sp>
      <p:sp>
        <p:nvSpPr>
          <p:cNvPr id="60" name="Text 58"/>
          <p:cNvSpPr/>
          <p:nvPr/>
        </p:nvSpPr>
        <p:spPr>
          <a:xfrm>
            <a:off x="9028879" y="5592068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Generatore Opzionale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974805" y="5821561"/>
            <a:ext cx="355541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Gruppo elettrogeno per autonomia estesa in caso di blackout prolungati.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246"/>
            <a:ext cx="6646299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Licenze Software e Servizi di Installazione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65324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 progetto include tutte le licenze software necessarie per il corretto funzionamento dell'infrastruttura, nonché i servizi professionali di installazione, configurazione e messa in servizio. La tariffa oraria applicata è di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€ 55,00/ora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per un totale di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174 ore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 lavoro specializzato.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227" y="1665387"/>
            <a:ext cx="5463542" cy="3198515"/>
          </a:xfrm>
          <a:prstGeom prst="roundRect">
            <a:avLst>
              <a:gd name="adj" fmla="val 5957"/>
            </a:avLst>
          </a:prstGeom>
          <a:solidFill>
            <a:srgbClr val="A2B9F9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98483" y="1771154"/>
            <a:ext cx="22634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Licenze Software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8483" y="2096889"/>
            <a:ext cx="5199032" cy="1689100"/>
          </a:xfrm>
          <a:prstGeom prst="roundRect">
            <a:avLst>
              <a:gd name="adj" fmla="val 705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7187" y="2173089"/>
            <a:ext cx="31975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Licenza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89655" y="2173089"/>
            <a:ext cx="26788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Costo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7187" y="2509639"/>
            <a:ext cx="31975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Server 2022 Standard (×4)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89655" y="2509639"/>
            <a:ext cx="26788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€ 3.200,00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7187" y="2846189"/>
            <a:ext cx="31975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11 Pro (121 licenze)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89655" y="2846189"/>
            <a:ext cx="26788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€ 18.150,00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7187" y="3182739"/>
            <a:ext cx="31975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Licenze Monitoraggio PRTG/Zabbix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89655" y="3182739"/>
            <a:ext cx="26788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€ 1.800,00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7187" y="3519289"/>
            <a:ext cx="31975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Dominio Internet (3 anni)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89655" y="3519289"/>
            <a:ext cx="26788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€ 30,00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8483" y="3905052"/>
            <a:ext cx="58086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Totale Licenze: € 23.180,00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523" y="1771154"/>
            <a:ext cx="349280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Servizi di Installazione e Configurazione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523" y="2096889"/>
            <a:ext cx="5273047" cy="2362200"/>
          </a:xfrm>
          <a:prstGeom prst="roundRect">
            <a:avLst>
              <a:gd name="adj" fmla="val 504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2327" y="2173089"/>
            <a:ext cx="3238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Attività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95473" y="2173089"/>
            <a:ext cx="13970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47463" y="2173089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Totale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2327" y="2509639"/>
            <a:ext cx="3238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Sopralluogo e Progettazione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95473" y="2509639"/>
            <a:ext cx="13970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47463" y="2509639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€ 1.540,00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2327" y="2846189"/>
            <a:ext cx="3238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Cablaggio e Installazione Rack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95473" y="2846189"/>
            <a:ext cx="13970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48h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47463" y="2846189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€ 2.640,00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2327" y="3182739"/>
            <a:ext cx="3238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Config. Switch, Router, Firewall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95473" y="3182739"/>
            <a:ext cx="13970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47463" y="3182739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€ 1.210,00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2327" y="3519289"/>
            <a:ext cx="3238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Config. VLAN, NAS, Server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95473" y="3519289"/>
            <a:ext cx="13970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38h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347463" y="3519289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€ 2.090,00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2327" y="3855839"/>
            <a:ext cx="3238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IDS/IPS, Test, Documentazione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95473" y="3855839"/>
            <a:ext cx="13970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347463" y="3855839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€ 1.650,00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2327" y="4192389"/>
            <a:ext cx="3238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Formazione Personale 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295473" y="4192389"/>
            <a:ext cx="13970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347463" y="4192389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€ 440,00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523" y="4578152"/>
            <a:ext cx="58826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Totale Manodopera (174h): € 9.570,00</a:t>
            </a:r>
            <a:endParaRPr lang="en-US" sz="10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982964"/>
            <a:ext cx="5381490" cy="133479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888978" y="5134273"/>
            <a:ext cx="275057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Servizi di Rete Avanzati — € 6.500,00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888978" y="5404445"/>
            <a:ext cx="500268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Configurazione VLAN (8 VLAN), routing inter-VLAN, firewall ASA con ACL, DMZ, VPN, NAS con RAID, IDS/IPS (3 router), backup automatici, monitoraggio SNMP/PRTG, Active Directory e integrazione SIEM.</a:t>
            </a:r>
            <a:endParaRPr lang="en-US" sz="100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8730" y="4982964"/>
            <a:ext cx="5381490" cy="133479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376233" y="5134273"/>
            <a:ext cx="372507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Testing, Collaudo e Documentazione — € 5.000,00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6376233" y="5404445"/>
            <a:ext cx="500268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di connettività su 120 postazioni, performance, sicurezza firewall, VPN, backup/restore, IDS/IPS e failover UPS. Documentazione completa: schema topologico, manuale di configurazione, piano di indirizzamento, politiche di backup e sicurezza.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5910"/>
            <a:ext cx="3231573" cy="26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Riepilogo Generale dei Costi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803573"/>
            <a:ext cx="11478330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 preventivo complessivo per la realizzazione dell'infrastruttura di rete aziendale ammonta a </a:t>
            </a:r>
            <a:pPr algn="l" indent="0" marL="0">
              <a:lnSpc>
                <a:spcPct val="101000"/>
              </a:lnSpc>
              <a:buNone/>
            </a:pPr>
            <a:r>
              <a:rPr lang="en-US" sz="650" b="1" dirty="0">
                <a:solidFill>
                  <a:srgbClr val="124DF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€ 219.874,20</a:t>
            </a:r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per il primo anno, comprensivo di hardware, software, cablaggio, sicurezza, servizi professionali e manutenzione annuale. Di seguito il dettaglio per categoria di spesa.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52798"/>
            <a:ext cx="7064595" cy="395773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1052" y="4958457"/>
            <a:ext cx="5452827" cy="1443633"/>
          </a:xfrm>
          <a:prstGeom prst="roundRect">
            <a:avLst>
              <a:gd name="adj" fmla="val 8378"/>
            </a:avLst>
          </a:prstGeom>
          <a:solidFill>
            <a:srgbClr val="A2B9F9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84989" y="5001022"/>
            <a:ext cx="1780337" cy="131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Investimento Primo Anno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4989" y="5174754"/>
            <a:ext cx="5284953" cy="342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1000"/>
              </a:lnSpc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Totale Preventivo: € 219.874,20</a:t>
            </a:r>
            <a:endParaRPr lang="en-US" sz="6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L'hardware (server, PC, networking) rappresenta la voce principale con </a:t>
            </a:r>
            <a:pPr algn="l" indent="0" marL="0">
              <a:lnSpc>
                <a:spcPct val="101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€ 120.704,20</a:t>
            </a:r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(54,9% del totale). Le licenze software e la sicurezza informatica costituiscono rispettivamente il 10,5% e il 10,1% dell'investimento complessivo.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6204589" y="5001022"/>
            <a:ext cx="2315708" cy="131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Costi Ricorrenti Annuali (dal 2° Anno)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204589" y="5180112"/>
            <a:ext cx="5331981" cy="1034455"/>
          </a:xfrm>
          <a:prstGeom prst="roundRect">
            <a:avLst>
              <a:gd name="adj" fmla="val 730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94975" y="5218311"/>
            <a:ext cx="3899199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Voce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9752463" y="5218311"/>
            <a:ext cx="2303405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Costo Annuo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294975" y="5389662"/>
            <a:ext cx="3899199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Manutenzione hardware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752463" y="5389662"/>
            <a:ext cx="2303405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€ 3.000,00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294975" y="5561013"/>
            <a:ext cx="3899199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Assistenza remota + on-site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752463" y="5561013"/>
            <a:ext cx="2303405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€ 3.500,00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294975" y="5732363"/>
            <a:ext cx="3899199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 giornalieri + patch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9752463" y="5732363"/>
            <a:ext cx="2303405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€ 2.400,00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294975" y="5903714"/>
            <a:ext cx="3899199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di sicurezza + firmware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9752463" y="5903714"/>
            <a:ext cx="2303405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€ 2.800,00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6294975" y="6075065"/>
            <a:ext cx="3899199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Rinnovo licenze (stimato)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9752463" y="6075065"/>
            <a:ext cx="2303405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€ 10.000,00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204589" y="6262489"/>
            <a:ext cx="5941566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Totale Annuale dal 2° anno: € 21.700,00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4648"/>
            <a:ext cx="5894042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Condizioni di Fornitura e Conclusioni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39726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 progetto viene offerto con modalità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"Chiavi in mano"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comprendendo fornitura e installazione di tutti i materiali, configurazione completa, messa in servizio della rete, formazione del personale IT e consegna della documentazione tecnica completa. Ogni fase è gestita da personale specializzato con esperienza certificata su piattaforme Cisco e Microsoft.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1639788"/>
            <a:ext cx="5381490" cy="928390"/>
          </a:xfrm>
          <a:prstGeom prst="roundRect">
            <a:avLst>
              <a:gd name="adj" fmla="val 1282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6510" dir="2700000">
              <a:srgbClr val="b5c1e2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0080" y="1778397"/>
            <a:ext cx="187360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⏱️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Tempi di Realizzazione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0080" y="2048570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4–6 settimane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dal sopralluogo iniziale. Il cronoprogramma include progettazione, cablaggio, installazione hardware, configurazione e collaudo finale.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48730" y="1639788"/>
            <a:ext cx="5381490" cy="928390"/>
          </a:xfrm>
          <a:prstGeom prst="roundRect">
            <a:avLst>
              <a:gd name="adj" fmla="val 1282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6510" dir="2700000">
              <a:srgbClr val="b5c1e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87335" y="1778397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Garanzia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87335" y="2048570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24 mesi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su tutto l'hardware fornito (se nuovo). Copertura completa per difetti di fabbricazione e malfunzionamenti hardware.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1475" y="2673945"/>
            <a:ext cx="5381490" cy="928390"/>
          </a:xfrm>
          <a:prstGeom prst="roundRect">
            <a:avLst>
              <a:gd name="adj" fmla="val 1282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6510" dir="2700000">
              <a:srgbClr val="b5c1e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0080" y="2812554"/>
            <a:ext cx="195327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💳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Modalità di Pagamento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080" y="3082727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30%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all'ordine,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40%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metà lavori,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30%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al collaudo finale. Validità offerta: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60 giorni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dalla data di emissione.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48730" y="2673945"/>
            <a:ext cx="5381490" cy="928390"/>
          </a:xfrm>
          <a:prstGeom prst="roundRect">
            <a:avLst>
              <a:gd name="adj" fmla="val 1282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6510" dir="2700000">
              <a:srgbClr val="b5c1e2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87335" y="2812554"/>
            <a:ext cx="220895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Consegna "Chiavi in Mano"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7335" y="3082727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Fornitura, installazione, configurazione completa, formazione del personale IT e documentazione tecnica completa inclusa nel prezzo.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227" y="3721398"/>
            <a:ext cx="5463542" cy="2621955"/>
          </a:xfrm>
          <a:prstGeom prst="roundRect">
            <a:avLst>
              <a:gd name="adj" fmla="val 7267"/>
            </a:avLst>
          </a:prstGeom>
          <a:solidFill>
            <a:srgbClr val="A2B9F9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8483" y="3827165"/>
            <a:ext cx="237444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Valore dell'Investimento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8483" y="4139605"/>
            <a:ext cx="519903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un investimento di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€ 219.874,20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nel primo anno e costi ricorrenti di soli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€ 21.700,00/anno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dal secondo anno, l'organizzazione dispone di un'infrastruttura di rete enterprise-grade, sicura, segmentata e monitorata, in grado di supportare la crescita aziendale per i prossimi anni.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523" y="3827165"/>
            <a:ext cx="22634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Prossimi Passi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523" y="4139605"/>
            <a:ext cx="5273047" cy="1328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Conferma dell'ordine entro la validità dell'offerta (60 giorni)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Sopralluogo tecnico per verifica sito e dettagli installativi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Avvio della progettazione dettagliata e ordinazione materiali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Esecuzione dei lavori di cablaggio e installazione hardware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Configurazione, testing e collaudo finale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6"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Formazione del personale IT e consegna documentazione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523" y="5586710"/>
            <a:ext cx="5273047" cy="637580"/>
          </a:xfrm>
          <a:prstGeom prst="roundRect">
            <a:avLst>
              <a:gd name="adj" fmla="val 18677"/>
            </a:avLst>
          </a:prstGeom>
          <a:solidFill>
            <a:srgbClr val="CFDBFC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5778" y="5775920"/>
            <a:ext cx="165294" cy="13225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693328" y="5715000"/>
            <a:ext cx="47109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del documento: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01 Luglio 2026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Per qualsiasi chiarimento tecnico o commerciale, il team di progettazione è a completa disposizione.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2026-07-01T13:56:24Z</dcterms:created>
  <dcterms:modified xsi:type="dcterms:W3CDTF">2026-07-01T13:56:24Z</dcterms:modified>
</cp:coreProperties>
</file>