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Default ContentType="image/jpeg" Extension="jpeg"/>
  <Default ContentType="image/jpg" Extension="jpg"/>
  <Default ContentType="image/svg+xml" Extension="svg"/>
  <Default ContentType="image/png" Extension="png"/>
  <Default ContentType="image/gif" Extension="gif"/>
  <Default ContentType="video/mp4" Extension="m4v"/>
  <Default ContentType="video/mp4" Extension="mp4"/>
  <Default ContentType="application/vnd.openxmlformats-officedocument.vmlDrawing" Extension="vml"/>
  <Default ContentType="application/vnd.openxmlformats-officedocument.spreadsheetml.sheet" Extension="xlsx"/>
  <Override ContentType="application/vnd.openxmlformats-officedocument.presentationml.presentation.main+xml" PartName="/ppt/presentation.xml"/>
  <Override ContentType="application/vnd.openxmlformats-officedocument.presentationml.notesMaster+xml" PartName="/ppt/notesMasters/notesMaster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6.xml"/>
  <Override ContentType="application/vnd.openxmlformats-officedocument.presentationml.slideMaster+xml" PartName="/ppt/slideMasters/slideMaster7.xml"/>
  <Override ContentType="application/vnd.openxmlformats-officedocument.presentationml.slide+xml" PartName="/ppt/slides/slide7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0.xml"/>
  <Override ContentType="application/vnd.openxmlformats-officedocument.presentationml.slideMaster+xml" PartName="/ppt/slideMasters/slideMaster11.xml"/>
  <Override ContentType="application/vnd.openxmlformats-officedocument.presentationml.slide+xml" PartName="/ppt/slides/slide11.xml"/>
  <Override ContentType="application/vnd.openxmlformats-officedocument.presentationml.slideMaster+xml" PartName="/ppt/slideMasters/slideMaster12.xml"/>
  <Override ContentType="application/vnd.openxmlformats-officedocument.presentationml.slide+xml" PartName="/ppt/slides/slide12.xml"/>
  <Override ContentType="application/vnd.openxmlformats-officedocument.presentationml.slideMaster+xml" PartName="/ppt/slideMasters/slideMaster13.xml"/>
  <Override ContentType="application/vnd.openxmlformats-officedocument.presentationml.slide+xml" PartName="/ppt/slides/slide13.xml"/>
  <Override ContentType="application/vnd.openxmlformats-officedocument.presentationml.slideMaster+xml" PartName="/ppt/slideMasters/slideMaster14.xml"/>
  <Override ContentType="application/vnd.openxmlformats-officedocument.presentationml.slide+xml" PartName="/ppt/slides/slide14.xml"/>
  <Override ContentType="application/vnd.openxmlformats-officedocument.presentationml.slideMaster+xml" PartName="/ppt/slideMasters/slideMaster15.xml"/>
  <Override ContentType="application/vnd.openxmlformats-officedocument.presentationml.slide+xml" PartName="/ppt/slides/slide15.xml"/>
  <Override ContentType="application/vnd.openxmlformats-officedocument.presentationml.slideMaster+xml" PartName="/ppt/slideMasters/slideMaster16.xml"/>
  <Override ContentType="application/vnd.openxmlformats-officedocument.presentationml.slide+xml" PartName="/ppt/slides/slide16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
		<Relationship Id="rId1" Target="docProps/app.xml" Type="http://schemas.openxmlformats.org/officeDocument/2006/relationships/extended-properties"/>
		<Relationship Id="rId2" Target="docProps/core.xml" Type="http://schemas.openxmlformats.org/package/2006/relationships/metadata/core-properties"/>
		<Relationship Id="rId3" Target="ppt/presentation.xml" Type="http://schemas.openxmlformats.org/officeDocument/2006/relationships/officeDocument"/>
		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IBM Plex Sans Light"/>
      <p:regular r:id="rId201317"/>
    </p:embeddedFont>
    <p:embeddedFont>
      <p:font typeface="IBM Plex Sans Thin"/>
      <p:regular r:id="rId201318"/>
    </p:embeddedFont>
    <p:embeddedFont>
      <p:font typeface="IBM Plex Sans ExtraLight"/>
      <p:regular r:id="rId201319"/>
    </p:embeddedFont>
    <p:embeddedFont>
      <p:font typeface="IBM Plex Sans Medium"/>
      <p:regular r:id="rId201320"/>
    </p:embeddedFont>
    <p:embeddedFont>
      <p:font typeface="Outfit Light"/>
      <p:regular r:id="rId201321"/>
    </p:embeddedFont>
    <p:embeddedFont>
      <p:font typeface="Outfit Thin"/>
      <p:regular r:id="rId201322"/>
    </p:embeddedFont>
    <p:embeddedFont>
      <p:font typeface="Outfit ExtraLight"/>
      <p:regular r:id="rId201323"/>
    </p:embeddedFont>
    <p:embeddedFont>
      <p:font typeface="Outfit"/>
      <p:regular r:id="rId201324"/>
    </p:embeddedFont>
    <p:embeddedFont>
      <p:font typeface="Outfit Medium"/>
      <p:regular r:id="rId201325"/>
    </p:embeddedFont>
    <p:embeddedFont>
      <p:font typeface="Outfit SemiBold"/>
      <p:regular r:id="rId201326"/>
    </p:embeddedFont>
    <p:embeddedFont>
      <p:font typeface="Outfit Bold"/>
      <p:regular r:id="rId201327"/>
    </p:embeddedFont>
    <p:embeddedFont>
      <p:font typeface="Outfit ExtraBold"/>
      <p:regular r:id="rId201328"/>
    </p:embeddedFont>
    <p:embeddedFont>
      <p:font typeface="Outfit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2-2.png"/><Relationship Id="rId5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4-2.png"/><Relationship Id="rId3" Type="http://schemas.openxmlformats.org/officeDocument/2006/relationships/image" Target="../media/image-1002-2.png"/><Relationship Id="rId5" Type="http://schemas.openxmlformats.org/officeDocument/2006/relationships/slideMaster" Target="../slideMasters/slideMaster1.xml"/></Relationships>
</file>

<file path=ppt/slideLayouts/_rels/slideLayout5.xml.rels><?xml version="1.0" encoding="UTF-8" standalone="yes" ?><Relationships xmlns="http://schemas.openxmlformats.org/package/2006/relationships"><Relationship Id="rId4" Target="https://gamma.app/?utm_source=made-with-gamma" TargetMode="External" Type="http://schemas.openxmlformats.org/officeDocument/2006/relationships/hyperlink"/><Relationship Id="rId1" Target="../media/image-1002-1.png" Type="http://schemas.openxmlformats.org/officeDocument/2006/relationships/image"/><Relationship Id="rId2" Target="../media/image-1005-2.jpeg" Type="http://schemas.openxmlformats.org/officeDocument/2006/relationships/image"/><Relationship Id="rId3" Target="../media/image-1002-2.png" Type="http://schemas.openxmlformats.org/officeDocument/2006/relationships/image"/><Relationship Id="rId5" Target="../slideMasters/slideMaster1.xml" Type="http://schemas.openxmlformats.org/officeDocument/2006/relationships/slideMaster"/></Relationships>
</file>

<file path=ppt/slideLayouts/_rels/slideLayout6.xml.rels><?xml version="1.0" encoding="UTF-8" standalone="yes" ?><Relationships xmlns="http://schemas.openxmlformats.org/package/2006/relationships"><Relationship Id="rId4" Target="https://gamma.app/?utm_source=made-with-gamma" TargetMode="External" Type="http://schemas.openxmlformats.org/officeDocument/2006/relationships/hyperlink"/><Relationship Id="rId1" Target="../media/image-1002-1.png" Type="http://schemas.openxmlformats.org/officeDocument/2006/relationships/image"/><Relationship Id="rId2" Target="../media/image-1006-2.jpeg" Type="http://schemas.openxmlformats.org/officeDocument/2006/relationships/image"/><Relationship Id="rId3" Target="../media/image-1002-2.png" Type="http://schemas.openxmlformats.org/officeDocument/2006/relationships/image"/><Relationship Id="rId5" Target="../slideMasters/slideMaster1.xml" Type="http://schemas.openxmlformats.org/officeDocument/2006/relationships/slideMaster"/></Relationships>
</file>

<file path=ppt/slideLayouts/_rels/slideLayout7.xml.rels><?xml version="1.0" encoding="UTF-8" standalone="yes" ?><Relationships xmlns="http://schemas.openxmlformats.org/package/2006/relationships"><Relationship Id="rId4" Target="https://gamma.app/?utm_source=made-with-gamma" TargetMode="External" Type="http://schemas.openxmlformats.org/officeDocument/2006/relationships/hyperlink"/><Relationship Id="rId1" Target="../media/image-1002-1.png" Type="http://schemas.openxmlformats.org/officeDocument/2006/relationships/image"/><Relationship Id="rId2" Target="../media/image-1007-2.jpeg" Type="http://schemas.openxmlformats.org/officeDocument/2006/relationships/image"/><Relationship Id="rId3" Target="../media/image-1002-2.png" Type="http://schemas.openxmlformats.org/officeDocument/2006/relationships/image"/><Relationship Id="rId5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09877"/>
          </a:xfrm>
          <a:prstGeom prst="rect">
            <a:avLst/>
          </a:prstGeom>
        </p:spPr>
      </p:pic>
      <p:pic>
        <p:nvPicPr>
          <p:cNvPr id="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arget="../media/image-1-1.jpeg" Type="http://schemas.openxmlformats.org/officeDocument/2006/relationships/image"/><Relationship Id="rId2" Target="../slideLayouts/slideLayout2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 ?><Relationships xmlns="http://schemas.openxmlformats.org/package/2006/relationships"><Relationship Id="rId1" Target="../media/image-2-1.jpeg" Type="http://schemas.openxmlformats.org/officeDocument/2006/relationships/image"/><Relationship Id="rId2" Target="../media/image-2-2.png" Type="http://schemas.openxmlformats.org/officeDocument/2006/relationships/image"/><Relationship Id="rId3" Target="../media/image-2-3.svg" Type="http://schemas.openxmlformats.org/officeDocument/2006/relationships/image"/><Relationship Id="rId4" Target="../media/image-2-2.png" Type="http://schemas.openxmlformats.org/officeDocument/2006/relationships/image"/><Relationship Id="rId5" Target="../media/image-2-3.svg" Type="http://schemas.openxmlformats.org/officeDocument/2006/relationships/image"/><Relationship Id="rId6" Target="../media/image-2-2.png" Type="http://schemas.openxmlformats.org/officeDocument/2006/relationships/image"/><Relationship Id="rId7" Target="../media/image-2-3.svg" Type="http://schemas.openxmlformats.org/officeDocument/2006/relationships/image"/><Relationship Id="rId8" Target="../media/image-2-2.png" Type="http://schemas.openxmlformats.org/officeDocument/2006/relationships/image"/><Relationship Id="rId9" Target="../media/image-2-3.svg" Type="http://schemas.openxmlformats.org/officeDocument/2006/relationships/image"/><Relationship Id="rId10" Target="../media/image-2-2.png" Type="http://schemas.openxmlformats.org/officeDocument/2006/relationships/image"/><Relationship Id="rId11" Target="../media/image-2-3.svg" Type="http://schemas.openxmlformats.org/officeDocument/2006/relationships/image"/><Relationship Id="rId12" Target="../slideLayouts/slideLayout2.xml" Type="http://schemas.openxmlformats.org/officeDocument/2006/relationships/slideLayout"/><Relationship Id="rId1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8.png"/><Relationship Id="rId11" Type="http://schemas.openxmlformats.org/officeDocument/2006/relationships/image" Target="../media/image-6-9.svg"/><Relationship Id="rId12" Type="http://schemas.openxmlformats.org/officeDocument/2006/relationships/image" Target="../media/image-6-8.png"/><Relationship Id="rId13" Type="http://schemas.openxmlformats.org/officeDocument/2006/relationships/image" Target="../media/image-6-9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 ?><Relationships xmlns="http://schemas.openxmlformats.org/package/2006/relationships"><Relationship Id="rId1" Target="../media/image-8-1.jpeg" Type="http://schemas.openxmlformats.org/officeDocument/2006/relationships/image"/><Relationship Id="rId2" Target="../slideLayouts/slideLayout2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 ?><Relationships xmlns="http://schemas.openxmlformats.org/package/2006/relationships"><Relationship Id="rId1" Target="../media/image-10-1.png" Type="http://schemas.openxmlformats.org/officeDocument/2006/relationships/image"/><Relationship Id="rId2" Target="../media/image-10-2.jpeg" Type="http://schemas.openxmlformats.org/officeDocument/2006/relationships/image"/><Relationship Id="rId3" Target="../slideLayouts/slideLayout2.xml" Type="http://schemas.openxmlformats.org/officeDocument/2006/relationships/slideLayout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0762"/>
            <a:ext cx="42555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Rete Compagnia THETA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4635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 tecnico completo: architettura di rete, configurazioni hardware, politiche di sicurezza e audit delle vulnerabilità condotto dal team di Cybersecurity &amp; Ethical Hacking.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6261"/>
            <a:ext cx="2161133" cy="266402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8752"/>
            <a:ext cx="244822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CYBERSECURITY &amp; ETHICAL HACKING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728094" y="3186261"/>
            <a:ext cx="1858342" cy="266402"/>
          </a:xfrm>
          <a:prstGeom prst="roundRect">
            <a:avLst>
              <a:gd name="adj" fmla="val 38315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a2b9f9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813149" y="3228752"/>
            <a:ext cx="214543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2B9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GRUPPO DI LAVORO INTEGRATO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0199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Team members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7575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professional team focused on collaboration, cybersecurity, and shared delivery.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370683"/>
            <a:ext cx="1479724" cy="7645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3127" y="2531492"/>
            <a:ext cx="1081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Lorenzo Buffolino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7601" y="2370683"/>
            <a:ext cx="1479724" cy="7645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54610" y="2531492"/>
            <a:ext cx="1081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Alex Tarantino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39083" y="2370683"/>
            <a:ext cx="1479724" cy="76453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976092" y="2531492"/>
            <a:ext cx="1081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Imane Chaabane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276972"/>
            <a:ext cx="1479724" cy="76453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33127" y="3437781"/>
            <a:ext cx="1081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Leonardo Onori</a:t>
            </a:r>
            <a:endParaRPr lang="en-US" sz="13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17601" y="3276972"/>
            <a:ext cx="1479724" cy="76453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354610" y="3437781"/>
            <a:ext cx="1081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Lorenzo Rizzuti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081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Panoramica della Rete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6640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rete THETA è composta da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120 postazioni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distribuite su 6 piani (20 PC per piano), con un'architettura a tre zone di sicurezza.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52688"/>
            <a:ext cx="2622724" cy="1279996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2640" y="25992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WAN (Internet)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905720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Collegamento al cloud e ISP — Subnet: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200.0.0.0/30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452688"/>
            <a:ext cx="2622724" cy="1279996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7122" y="25992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INTERNAL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7122" y="2905720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Rete interna aziendale — VLAN 10–70 — Subnet: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192.168.10.0/24 – 192.168.70.0/24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452688"/>
            <a:ext cx="2622724" cy="1279996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1605" y="25992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DMZ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1605" y="2905720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Servizi esposti — VLAN 100 — Subnet: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192.168.100.0/24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783"/>
            <a:ext cx="403123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Mappa VLAN e Reparti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6119" y="1141586"/>
            <a:ext cx="8151763" cy="3571131"/>
          </a:xfrm>
          <a:prstGeom prst="roundRect">
            <a:avLst>
              <a:gd name="adj" fmla="val 351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146349"/>
            <a:ext cx="8142238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631" y="1233488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Piano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64296" y="1233488"/>
            <a:ext cx="18017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Reparto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92698" y="1233488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VLAN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13982" y="1233488"/>
            <a:ext cx="22089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Subnet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49504" y="1233488"/>
            <a:ext cx="2211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Gateway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0881" y="1542083"/>
            <a:ext cx="8142238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631" y="1629221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64296" y="1629221"/>
            <a:ext cx="18017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Segreteria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92698" y="1629221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13982" y="1629221"/>
            <a:ext cx="22089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192.168.10.0/24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49504" y="1629221"/>
            <a:ext cx="2211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192.168.10.1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0881" y="1937817"/>
            <a:ext cx="8142238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631" y="2024955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64296" y="2024955"/>
            <a:ext cx="18017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Market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2698" y="2024955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13982" y="2024955"/>
            <a:ext cx="22089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192.168.20.0/24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49504" y="2024955"/>
            <a:ext cx="2211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192.168.20.1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0881" y="2333551"/>
            <a:ext cx="8142238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631" y="2420689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64296" y="2420689"/>
            <a:ext cx="18017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92698" y="2420689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13982" y="2420689"/>
            <a:ext cx="22089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192.168.30.0/24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49504" y="2420689"/>
            <a:ext cx="2211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192.168.30.1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0881" y="2729285"/>
            <a:ext cx="8142238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631" y="2816423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64296" y="2816423"/>
            <a:ext cx="18017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Ingegneri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2698" y="2816423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13982" y="2816423"/>
            <a:ext cx="22089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192.168.40.0/24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49504" y="2816423"/>
            <a:ext cx="2211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192.168.40.1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0881" y="3125019"/>
            <a:ext cx="8142238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0631" y="3212157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864296" y="3212157"/>
            <a:ext cx="18017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92698" y="3212157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13982" y="3212157"/>
            <a:ext cx="22089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192.168.50.0/24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49504" y="3212157"/>
            <a:ext cx="2211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192.168.50.1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0881" y="3520753"/>
            <a:ext cx="8142238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631" y="3607891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864296" y="3607891"/>
            <a:ext cx="18017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Direttori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92698" y="3607891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13982" y="3607891"/>
            <a:ext cx="22089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192.168.60.0/24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749504" y="3607891"/>
            <a:ext cx="2211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192.168.60.1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0881" y="3916487"/>
            <a:ext cx="8142238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0631" y="4003625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864296" y="4003625"/>
            <a:ext cx="18017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 Inter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492698" y="4003625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13982" y="4003625"/>
            <a:ext cx="22089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192.168.70.0/24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49504" y="4003625"/>
            <a:ext cx="2211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192.168.70.1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00881" y="4312221"/>
            <a:ext cx="8142238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40631" y="4399359"/>
            <a:ext cx="13970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864296" y="4399359"/>
            <a:ext cx="18017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DMZ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492698" y="4399359"/>
            <a:ext cx="1394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713982" y="4399359"/>
            <a:ext cx="22089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192.168.100.0/24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749504" y="4399359"/>
            <a:ext cx="22112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192.168.100.1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160"/>
            <a:ext cx="40061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Hardware e Dispositivi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23393"/>
            <a:ext cx="2628230" cy="175215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4988" y="1239217"/>
            <a:ext cx="1631305" cy="15867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11997" y="1400026"/>
            <a:ext cx="12334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Firewall Perimetrale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711997" y="1984697"/>
            <a:ext cx="123348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Cisco ASA 5505 — Protezione da Internet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8052" y="1239217"/>
            <a:ext cx="1631379" cy="15867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5061" y="1400026"/>
            <a:ext cx="12335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Firewall DMZ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485061" y="1763241"/>
            <a:ext cx="12335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Cisco ASA 5505 — Isolamento DMZ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1190" y="1239217"/>
            <a:ext cx="1631379" cy="15867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58199" y="1400026"/>
            <a:ext cx="123356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Router Centrale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258199" y="1984697"/>
            <a:ext cx="12335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Cisco 2911 — Gateway e routing inter-VLAN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74988" y="2967707"/>
            <a:ext cx="1631305" cy="159208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711997" y="3128516"/>
            <a:ext cx="12334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Switch Core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3711997" y="3491731"/>
            <a:ext cx="123348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Cisco Catalyst 2960-X 48 porte — Backbone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48052" y="2967707"/>
            <a:ext cx="1631379" cy="159208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485061" y="3128516"/>
            <a:ext cx="12335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Switch di Piano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5485061" y="3491731"/>
            <a:ext cx="12335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6× Cisco Catalyst 2960 — Accesso per 6 piani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21190" y="2967707"/>
            <a:ext cx="1631379" cy="1592089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258199" y="3128516"/>
            <a:ext cx="12335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Router IDS</a:t>
            </a:r>
            <a:endParaRPr lang="en-US" sz="1350" dirty="0"/>
          </a:p>
        </p:txBody>
      </p:sp>
      <p:sp>
        <p:nvSpPr>
          <p:cNvPr id="21" name="Text 12"/>
          <p:cNvSpPr/>
          <p:nvPr/>
        </p:nvSpPr>
        <p:spPr>
          <a:xfrm>
            <a:off x="7258199" y="3491731"/>
            <a:ext cx="12335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3× Cisco 2811 — Monitoraggio NAS, Web Server e traffico aggiuntivo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436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Configurazioni Chiave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10866"/>
            <a:ext cx="4075881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19196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Router Centrale (2911)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226171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Router-on-a-stick: sub-interfacce dot1Q per VLAN 10–70 e 100. Route di default verso ASA-EDGE (10.0.1.1).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10866"/>
            <a:ext cx="4075881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13759" y="19196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Firewall Perimetrale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13759" y="2226171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ASA-EDGE: PAT dinamico per uscita Internet. ACL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OUTSIDE_IN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blocca tutto il traffico in ingresso.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821558"/>
            <a:ext cx="4075881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7877" y="35303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Firewall DMZ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37877" y="3836863"/>
            <a:ext cx="379236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ASA-DMZ: permette HTTP/HTTPS verso Web Server (192.168.100.10). Blocca il traffico dal Web Server verso la rete interna.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21558"/>
            <a:ext cx="4075881" cy="5670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13759" y="35303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Switch Core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13759" y="3836863"/>
            <a:ext cx="37923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10–70 e 100 create. Trunk verso Router Centrale e ASA-DMZ. Porte di accesso assegnate per reparto.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2793802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Monitoraggio: SPAN e Syslog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412578"/>
            <a:ext cx="13709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Sessioni SPAN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564457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 traffico del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NAS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(VLAN 70, Fa0/1) e del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Web Server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(VLAN 100, Fa0/1) viene copiato verso le interfacce IDS dedicate tramite SPAN.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779216"/>
            <a:ext cx="13709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Syslog Centralizzato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931096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Tutti i dispositivi (router, firewall, switch, IDS) inviano log a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192.168.70.3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 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logging trap debugging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9548"/>
            <a:ext cx="65822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Flussi di Traffico e Politiche di Sicurezza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76052"/>
            <a:ext cx="8151763" cy="3317825"/>
          </a:xfrm>
          <a:prstGeom prst="roundRect">
            <a:avLst>
              <a:gd name="adj" fmla="val 384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28081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863" y="1370633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Traffico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80767" y="1370633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Origine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09170" y="1370633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Destinazione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37572" y="1370633"/>
            <a:ext cx="1390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58856" y="1370633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Note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881" y="1687264"/>
            <a:ext cx="8142238" cy="4112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863" y="1777082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Internet → Rete interna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80767" y="1777082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09170" y="1777082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37572" y="1777082"/>
            <a:ext cx="139020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❌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Bloccato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58856" y="1777082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Firewall ASA-EDGE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2098477"/>
            <a:ext cx="814223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863" y="2188294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Internet → Web Server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80767" y="2188294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09170" y="2188294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DMZ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37572" y="2188294"/>
            <a:ext cx="1390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Consentito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58856" y="2188294"/>
            <a:ext cx="13425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HTTP/HTTPS via ASA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0881" y="2731740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2863" y="2821558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Utenti → Web 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80767" y="282155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10–60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09170" y="282155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DMZ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37572" y="2821558"/>
            <a:ext cx="1390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Consentito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58856" y="2821558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Via ASA-DMZ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0881" y="313819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2863" y="3228008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Utenti → NAS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80767" y="322800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10–60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09170" y="322800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VLAN 70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37572" y="3228008"/>
            <a:ext cx="1390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Consentito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58856" y="3228008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Routing inter-VLAN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0881" y="3544639"/>
            <a:ext cx="8142238" cy="4112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2863" y="363445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Server → Rete interna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80767" y="3634457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DMZ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09170" y="3634457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37572" y="3634457"/>
            <a:ext cx="139020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❌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Bloccato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58856" y="3634457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Firewall ASA-DMZ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0881" y="3955852"/>
            <a:ext cx="814223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2863" y="4045669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IDS → Syslog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80767" y="4045669"/>
            <a:ext cx="13401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192.168.70.30 / .100.30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09170" y="4045669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192.168.70.3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37572" y="4045669"/>
            <a:ext cx="1390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Consentito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58856" y="4045669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UDP 514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2284661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Topologia Finale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459608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topologia è divisa in due sezioni: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Core Network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(Internet → ASA-EDGE → Router Centrale → Switch Core) 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Access/Distribution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(VLAN 10–60 utenti, VLAN 70 server, VLAN 100 DMZ con NAS, Syslog, WebServer e IDS).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2679055"/>
            <a:ext cx="3986733" cy="281285"/>
          </a:xfrm>
          <a:prstGeom prst="roundRect">
            <a:avLst>
              <a:gd name="adj" fmla="val 23389"/>
            </a:avLst>
          </a:prstGeom>
          <a:solidFill>
            <a:srgbClr val="CFDB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93" y="2777803"/>
            <a:ext cx="91306" cy="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574" y="2731145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Tutte le VLAN sono attive. Routing inter-VLAN configurato. Due IDS monitorano NAS e Web Server. SPAN attiva su switch VLAN 70 e DMZ.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6945"/>
            <a:ext cx="59119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Audit di Sicurezza: Scansione Porte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3253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Script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port_scanner.py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eseguito da Kali Linux (192.168.10.11) su Metasploitable (192.168.50.101). Superficie d'attacco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estremamente estesa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45630"/>
            <a:ext cx="4004965" cy="826368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2640" y="20921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FTP (21) — Alto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398663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Trasferimento file non cifrato, credenziali intercettabili.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945630"/>
            <a:ext cx="4005039" cy="826368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9363" y="20921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Telnet (23) — Critico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398663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Dati e password in chiaro. Disinstallare immediatamente.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913757"/>
            <a:ext cx="4004965" cy="826368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640" y="3060278"/>
            <a:ext cx="24302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NetBIOS/SMB (139/445) — Alto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640" y="3366790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Storicamente affetta da exploit RCE critici.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913757"/>
            <a:ext cx="4005039" cy="826368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4763">
            <a:solidFill>
              <a:srgbClr val="B5C1E2"/>
            </a:solidFill>
            <a:prstDash val="solid"/>
          </a:ln>
          <a:effectLst>
            <a:outerShdw sx="100000" sy="100000" kx="0" ky="0" algn="bl" rotWithShape="0" blurRad="101600" dist="17780" dir="2700000">
              <a:srgbClr val="b5c1e2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89363" y="3060278"/>
            <a:ext cx="23217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R-services (512–514) — Critico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9363" y="3366790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 remoto obsoleto con autenticazione debole.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899595"/>
            <a:ext cx="8151763" cy="566961"/>
          </a:xfrm>
          <a:prstGeom prst="roundRect">
            <a:avLst>
              <a:gd name="adj" fmla="val 22504"/>
            </a:avLst>
          </a:prstGeom>
          <a:solidFill>
            <a:srgbClr val="FCF2B5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100364"/>
            <a:ext cx="177180" cy="14175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56816" y="4076774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Raccomandazione: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Policy "Default Deny" su pfSense — bloccare porte 21, 23, 445, 512–514; consentire solo 80/443.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389855"/>
            <a:ext cx="7088312" cy="44301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422449"/>
            <a:ext cx="6877869" cy="42986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2280"/>
            <a:ext cx="45763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Analisi HTTP e Conclusioni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39627"/>
            <a:ext cx="3403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Endpoint /phpMyAdmin/ —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Critico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0284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e DELETE restituiscono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200 OK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possibile upload di Web Shell o defacement.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498229"/>
            <a:ext cx="29518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Endpoint /dwwa/ —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Mitigato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86144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Tutti i metodi restituiscono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302 Found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reindirizzamento al login.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456831"/>
            <a:ext cx="26009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Risorsa Statica —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 Sicura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82004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PUT/DELETE restituiscono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6666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405 Method Not Allowed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configurazione corretta.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539627"/>
            <a:ext cx="23131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Raccomandazioni Finali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190284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Bloccare verbi HTTP pericolosi via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.htaccess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su Apache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Disinstallare Telnet e R-services su Metasploitable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Centralizzare gestione remota su SSH (porta 22)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Applicare policy "Default Deny" su pfSense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49701" y="3118247"/>
            <a:ext cx="3902943" cy="1006376"/>
          </a:xfrm>
          <a:prstGeom prst="roundRect">
            <a:avLst>
              <a:gd name="adj" fmla="val 12678"/>
            </a:avLst>
          </a:prstGeom>
          <a:solidFill>
            <a:srgbClr val="CFDB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338066"/>
            <a:ext cx="177180" cy="1417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10398" y="3281214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rete THETA è segmentata e monitorata, ma le criticità su pfSense e phpMyAdmin richiedono intervento immediato.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2026-07-02T14:45:00Z</dcterms:created>
  <dcterms:modified xsi:type="dcterms:W3CDTF">2026-07-02T14:45:00Z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7350580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S11.0.1</vt:lpwstr>
  </property>
</Properties>
</file>